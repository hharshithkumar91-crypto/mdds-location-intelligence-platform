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evaluators. This presentation presents the Phase 1 engineering deliverables for our MDDS Administrative Hierarchy &amp; B2B Location Intelligence Platform. Our focus in Phase 1 has been establishing a zero-debt 3NF database schema, selecting a high-throughput serverless tech stack, and building a streaming ETL pipeline for 650,000+ national records.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India's administrative boundaries comprise over 600,000 villages. Most existing systems suffer from duplicate records, orphaned village references, and code corruption where leading zeroes in codes like '03950' are dropped. Our objective in Phase 1 is creating an airtight relational architecture capable of sub-50ms lookups and secure B2B access.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Here is our Technology Stack Decision Matrix. Rather than relying on traditional monolithic servers, we selected a serverless architecture: Node.js + Express hosted on Vercel's edge, backed by NeonDB Serverless PostgreSQL and Upstash Redis. This eliminates infrastructure maintenance while guaranteeing elastic scalability.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In Section 4, our database design follows Third Normal Form. Each geographic entity strictly points only to its immediate parent. A village belongs to a sub-district, which belongs to a district, which belongs to a state. This completely eliminates update anomalies. We have also built in B2B multi-tenancy with User, ApiKey, UserStateAccess, and ApiLog.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Handling 600,000 villages requires strategic indexing. We implemented a GIN Trigram index using PostgreSQL's pg_trgm extension on Village.name, which enables sub-50ms autocomplete lookups. Foreign keys and directory listings are backed by composite B-Trees, and API key authentication uses O(1) unique hash lookups.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ingestion, firing individual INSERTs or SELECT queries for 650,000 records would take hours. Our streaming Python engine caches parent State, District, and SubDistrict IDs in memory, then streams villages in chunks of 5,000 using execute_values. The entire load completes in under 4 minutes with zero orphaned records.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In conclusion, Phase 1 is 100% complete and verified. Our tests confirm zero orphaned records, accurate code preservation, and complete 3NF normalization. We are prepared to immediately begin Phase 2: building the Express REST APIs, the Upstash rate limiting gateway, and the B2B developer portal.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2286000"/>
          </a:xfrm>
          <a:prstGeom prst="rect">
            <a:avLst/>
          </a:prstGeom>
          <a:noFill/>
        </p:spPr>
        <p:txBody>
          <a:bodyPr wrap="square">
            <a:spAutoFit/>
          </a:bodyPr>
          <a:lstStyle/>
          <a:p>
            <a:pPr>
              <a:spcAft>
                <a:spcPts val="1400"/>
              </a:spcAft>
              <a:defRPr sz="1400" b="1">
                <a:solidFill>
                  <a:srgbClr val="60A5FA"/>
                </a:solidFill>
              </a:defRPr>
            </a:pPr>
            <a:r>
              <a:t>BOLD ANALYTICS CAPSTONE PROJECT</a:t>
            </a:r>
          </a:p>
          <a:p>
            <a:pPr>
              <a:spcAft>
                <a:spcPts val="1200"/>
              </a:spcAft>
              <a:defRPr sz="3200" b="1">
                <a:solidFill>
                  <a:srgbClr val="F8FAFC"/>
                </a:solidFill>
              </a:defRPr>
            </a:pPr>
            <a:r>
              <a:t>MDDS Administrative Hierarchy &amp; B2B Location Intelligence Platform</a:t>
            </a:r>
          </a:p>
          <a:p>
            <a:pPr>
              <a:defRPr sz="1800">
                <a:solidFill>
                  <a:srgbClr val="94A3B8"/>
                </a:solidFill>
              </a:defRPr>
            </a:pPr>
            <a:r>
              <a:t>Phase 1: Technical Architecture, 3NF Relational Schema &amp; Streaming Ingestion Engine</a:t>
            </a:r>
          </a:p>
        </p:txBody>
      </p:sp>
      <p:sp>
        <p:nvSpPr>
          <p:cNvPr id="4" name="Rounded Rectangle 3"/>
          <p:cNvSpPr/>
          <p:nvPr/>
        </p:nvSpPr>
        <p:spPr>
          <a:xfrm>
            <a:off x="1097280" y="4297680"/>
            <a:ext cx="10058400" cy="16459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200" b="1">
                <a:solidFill>
                  <a:srgbClr val="60A5FA"/>
                </a:solidFill>
              </a:defRPr>
            </a:pPr>
            <a:r>
              <a:t>ENGINEERING TEAM &amp; METADATA</a:t>
            </a:r>
          </a:p>
          <a:p>
            <a:pPr>
              <a:spcAft>
                <a:spcPts val="400"/>
              </a:spcAft>
              <a:defRPr sz="1300">
                <a:solidFill>
                  <a:srgbClr val="F8FAFC"/>
                </a:solidFill>
              </a:defRPr>
            </a:pPr>
            <a:r>
              <a:t>• Core Contributors: Harshith Kumar (HH), Riyan Pathan (RI), Geetha (YG)</a:t>
            </a:r>
          </a:p>
          <a:p>
            <a:pPr>
              <a:spcAft>
                <a:spcPts val="400"/>
              </a:spcAft>
              <a:defRPr sz="1300">
                <a:solidFill>
                  <a:srgbClr val="94A3B8"/>
                </a:solidFill>
              </a:defRPr>
            </a:pPr>
            <a:r>
              <a:t>• Target Milestone: September 3, 2026 | Milestone Status: Phase 1 Complete (100% Verification)</a:t>
            </a:r>
          </a:p>
          <a:p>
            <a:pPr>
              <a:defRPr sz="1300">
                <a:solidFill>
                  <a:srgbClr val="2563EB"/>
                </a:solidFill>
              </a:defRPr>
            </a:pPr>
            <a:r>
              <a:t>• Live Repository: github.com/hharshithkumar91-crypto/mdds-location-intelligence-platform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60A5FA"/>
                </a:solidFill>
              </a:defRPr>
            </a:pPr>
            <a:r>
              <a:t>PROBLEM STATEMENT &amp; CONTEXT</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National Scale &amp; Problem Definition</a:t>
            </a:r>
          </a:p>
        </p:txBody>
      </p:sp>
      <p:sp>
        <p:nvSpPr>
          <p:cNvPr id="4" name="Rounded Rectangle 3"/>
          <p:cNvSpPr/>
          <p:nvPr/>
        </p:nvSpPr>
        <p:spPr>
          <a:xfrm>
            <a:off x="7315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1. Geographic Scale</a:t>
            </a:r>
          </a:p>
          <a:p>
            <a:pPr>
              <a:spcAft>
                <a:spcPts val="600"/>
              </a:spcAft>
              <a:defRPr sz="1200">
                <a:solidFill>
                  <a:srgbClr val="94A3B8"/>
                </a:solidFill>
              </a:defRPr>
            </a:pPr>
            <a:r>
              <a:t>• Over 600,000+ revenue villages across 36 States &amp; UTs.</a:t>
            </a:r>
          </a:p>
          <a:p>
            <a:pPr>
              <a:spcAft>
                <a:spcPts val="600"/>
              </a:spcAft>
              <a:defRPr sz="1200">
                <a:solidFill>
                  <a:srgbClr val="94A3B8"/>
                </a:solidFill>
              </a:defRPr>
            </a:pPr>
            <a:r>
              <a:t>• ~700 Districts and 6,000+ Sub-Districts (Talukas/Blocks).</a:t>
            </a:r>
          </a:p>
          <a:p>
            <a:pPr>
              <a:spcAft>
                <a:spcPts val="600"/>
              </a:spcAft>
              <a:defRPr sz="1200">
                <a:solidFill>
                  <a:srgbClr val="94A3B8"/>
                </a:solidFill>
              </a:defRPr>
            </a:pPr>
            <a:r>
              <a:t>• Standardized against Ministry of Drinking Water &amp; Sanitation (MDDS) catalogs.</a:t>
            </a:r>
          </a:p>
          <a:p>
            <a:pPr>
              <a:spcAft>
                <a:spcPts val="600"/>
              </a:spcAft>
              <a:defRPr sz="1200">
                <a:solidFill>
                  <a:srgbClr val="94A3B8"/>
                </a:solidFill>
              </a:defRPr>
            </a:pPr>
            <a:r>
              <a:t>• Data integrity risks: leading zeroes in codes like '03950' are easily corrupted.</a:t>
            </a:r>
          </a:p>
        </p:txBody>
      </p:sp>
      <p:sp>
        <p:nvSpPr>
          <p:cNvPr id="5" name="Rounded Rectangle 4"/>
          <p:cNvSpPr/>
          <p:nvPr/>
        </p:nvSpPr>
        <p:spPr>
          <a:xfrm>
            <a:off x="43891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2. Engineering Challenge</a:t>
            </a:r>
          </a:p>
          <a:p>
            <a:pPr>
              <a:spcAft>
                <a:spcPts val="600"/>
              </a:spcAft>
              <a:defRPr sz="1200">
                <a:solidFill>
                  <a:srgbClr val="94A3B8"/>
                </a:solidFill>
              </a:defRPr>
            </a:pPr>
            <a:r>
              <a:t>• Unnormalized data yields massive duplication and orphaned nodes.</a:t>
            </a:r>
          </a:p>
          <a:p>
            <a:pPr>
              <a:spcAft>
                <a:spcPts val="600"/>
              </a:spcAft>
              <a:defRPr sz="1200">
                <a:solidFill>
                  <a:srgbClr val="94A3B8"/>
                </a:solidFill>
              </a:defRPr>
            </a:pPr>
            <a:r>
              <a:t>• B2B address resolution demands sub-50ms API response times.</a:t>
            </a:r>
          </a:p>
          <a:p>
            <a:pPr>
              <a:spcAft>
                <a:spcPts val="600"/>
              </a:spcAft>
              <a:defRPr sz="1200">
                <a:solidFill>
                  <a:srgbClr val="94A3B8"/>
                </a:solidFill>
              </a:defRPr>
            </a:pPr>
            <a:r>
              <a:t>• Fuzzy matching required to handle regional spelling variations.</a:t>
            </a:r>
          </a:p>
          <a:p>
            <a:pPr>
              <a:spcAft>
                <a:spcPts val="600"/>
              </a:spcAft>
              <a:defRPr sz="1200">
                <a:solidFill>
                  <a:srgbClr val="94A3B8"/>
                </a:solidFill>
              </a:defRPr>
            </a:pPr>
            <a:r>
              <a:t>• Bulk ingestion must handle 650k rows without memory exhaustion or timeouts.</a:t>
            </a:r>
          </a:p>
        </p:txBody>
      </p:sp>
      <p:sp>
        <p:nvSpPr>
          <p:cNvPr id="6" name="Rounded Rectangle 5"/>
          <p:cNvSpPr/>
          <p:nvPr/>
        </p:nvSpPr>
        <p:spPr>
          <a:xfrm>
            <a:off x="80467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3. Business Objectives</a:t>
            </a:r>
          </a:p>
          <a:p>
            <a:pPr>
              <a:spcAft>
                <a:spcPts val="600"/>
              </a:spcAft>
              <a:defRPr sz="1200">
                <a:solidFill>
                  <a:srgbClr val="94A3B8"/>
                </a:solidFill>
              </a:defRPr>
            </a:pPr>
            <a:r>
              <a:t>• Deliver high-throughput B2B location intelligence APIs.</a:t>
            </a:r>
          </a:p>
          <a:p>
            <a:pPr>
              <a:spcAft>
                <a:spcPts val="600"/>
              </a:spcAft>
              <a:defRPr sz="1200">
                <a:solidFill>
                  <a:srgbClr val="94A3B8"/>
                </a:solidFill>
              </a:defRPr>
            </a:pPr>
            <a:r>
              <a:t>• Enforce multi-tenant rate limits and API key authentication.</a:t>
            </a:r>
          </a:p>
          <a:p>
            <a:pPr>
              <a:spcAft>
                <a:spcPts val="600"/>
              </a:spcAft>
              <a:defRPr sz="1200">
                <a:solidFill>
                  <a:srgbClr val="94A3B8"/>
                </a:solidFill>
              </a:defRPr>
            </a:pPr>
            <a:r>
              <a:t>• Implement granular State-level subscription scoping (UserStateAccess).</a:t>
            </a:r>
          </a:p>
          <a:p>
            <a:pPr>
              <a:spcAft>
                <a:spcPts val="600"/>
              </a:spcAft>
              <a:defRPr sz="1200">
                <a:solidFill>
                  <a:srgbClr val="94A3B8"/>
                </a:solidFill>
              </a:defRPr>
            </a:pPr>
            <a:r>
              <a:t>• Provide real-time usage telemetry and billing audit trails.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60A5FA"/>
                </a:solidFill>
              </a:defRPr>
            </a:pPr>
            <a:r>
              <a:t>ARCHITECTURE &amp; COMPONENT SELECTION</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Technology Stack Decision Matrix</a:t>
            </a:r>
          </a:p>
        </p:txBody>
      </p:sp>
      <p:graphicFrame>
        <p:nvGraphicFramePr>
          <p:cNvPr id="4" name="Table 3"/>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011680"/>
                <a:gridCol w="2377440"/>
                <a:gridCol w="3840480"/>
                <a:gridCol w="2468880"/>
              </a:tblGrid>
              <a:tr h="627017">
                <a:tc>
                  <a:txBody>
                    <a:bodyPr/>
                    <a:lstStyle/>
                    <a:p>
                      <a:pPr>
                        <a:defRPr sz="1200" b="1">
                          <a:solidFill>
                            <a:srgbClr val="F8FAFC"/>
                          </a:solidFill>
                        </a:defRPr>
                      </a:pPr>
                      <a:r>
                        <a:t>Layer / Component</a:t>
                      </a:r>
                    </a:p>
                  </a:txBody>
                  <a:tcPr>
                    <a:solidFill>
                      <a:srgbClr val="1E3A8A"/>
                    </a:solidFill>
                  </a:tcPr>
                </a:tc>
                <a:tc>
                  <a:txBody>
                    <a:bodyPr/>
                    <a:lstStyle/>
                    <a:p>
                      <a:pPr>
                        <a:defRPr sz="1200" b="1">
                          <a:solidFill>
                            <a:srgbClr val="F8FAFC"/>
                          </a:solidFill>
                        </a:defRPr>
                      </a:pPr>
                      <a:r>
                        <a:t>Technology Choice</a:t>
                      </a:r>
                    </a:p>
                  </a:txBody>
                  <a:tcPr>
                    <a:solidFill>
                      <a:srgbClr val="1E3A8A"/>
                    </a:solidFill>
                  </a:tcPr>
                </a:tc>
                <a:tc>
                  <a:txBody>
                    <a:bodyPr/>
                    <a:lstStyle/>
                    <a:p>
                      <a:pPr>
                        <a:defRPr sz="1200" b="1">
                          <a:solidFill>
                            <a:srgbClr val="F8FAFC"/>
                          </a:solidFill>
                        </a:defRPr>
                      </a:pPr>
                      <a:r>
                        <a:t>Architectural Rationale</a:t>
                      </a:r>
                    </a:p>
                  </a:txBody>
                  <a:tcPr>
                    <a:solidFill>
                      <a:srgbClr val="1E3A8A"/>
                    </a:solidFill>
                  </a:tcPr>
                </a:tc>
                <a:tc>
                  <a:txBody>
                    <a:bodyPr/>
                    <a:lstStyle/>
                    <a:p>
                      <a:pPr>
                        <a:defRPr sz="1200" b="1">
                          <a:solidFill>
                            <a:srgbClr val="F8FAFC"/>
                          </a:solidFill>
                        </a:defRPr>
                      </a:pPr>
                      <a:r>
                        <a:t>Production Safeguards</a:t>
                      </a:r>
                    </a:p>
                  </a:txBody>
                  <a:tcPr>
                    <a:solidFill>
                      <a:srgbClr val="1E3A8A"/>
                    </a:solidFill>
                  </a:tcPr>
                </a:tc>
              </a:tr>
              <a:tr h="627017">
                <a:tc>
                  <a:txBody>
                    <a:bodyPr/>
                    <a:lstStyle/>
                    <a:p>
                      <a:pPr>
                        <a:defRPr sz="1100">
                          <a:solidFill>
                            <a:srgbClr val="F8FAFC"/>
                          </a:solidFill>
                        </a:defRPr>
                      </a:pPr>
                      <a:r>
                        <a:t>Backend Runtime</a:t>
                      </a:r>
                    </a:p>
                  </a:txBody>
                  <a:tcPr>
                    <a:solidFill>
                      <a:srgbClr val="1E293B"/>
                    </a:solidFill>
                  </a:tcPr>
                </a:tc>
                <a:tc>
                  <a:txBody>
                    <a:bodyPr/>
                    <a:lstStyle/>
                    <a:p>
                      <a:pPr>
                        <a:defRPr sz="1100" b="1">
                          <a:solidFill>
                            <a:srgbClr val="60A5FA"/>
                          </a:solidFill>
                        </a:defRPr>
                      </a:pPr>
                      <a:r>
                        <a:t>Node.js (LTS) + Express.js</a:t>
                      </a:r>
                    </a:p>
                  </a:txBody>
                  <a:tcPr>
                    <a:solidFill>
                      <a:srgbClr val="1E293B"/>
                    </a:solidFill>
                  </a:tcPr>
                </a:tc>
                <a:tc>
                  <a:txBody>
                    <a:bodyPr/>
                    <a:lstStyle/>
                    <a:p>
                      <a:pPr>
                        <a:defRPr sz="1100">
                          <a:solidFill>
                            <a:srgbClr val="94A3B8"/>
                          </a:solidFill>
                        </a:defRPr>
                      </a:pPr>
                      <a:r>
                        <a:t>Asynchronous non-blocking event loop ideal for I/O-heavy REST lookups</a:t>
                      </a:r>
                    </a:p>
                  </a:txBody>
                  <a:tcPr>
                    <a:solidFill>
                      <a:srgbClr val="1E293B"/>
                    </a:solidFill>
                  </a:tcPr>
                </a:tc>
                <a:tc>
                  <a:txBody>
                    <a:bodyPr/>
                    <a:lstStyle/>
                    <a:p>
                      <a:pPr>
                        <a:defRPr sz="1100">
                          <a:solidFill>
                            <a:srgbClr val="94A3B8"/>
                          </a:solidFill>
                        </a:defRPr>
                      </a:pPr>
                      <a:r>
                        <a:t>Heavy ETL isolated to Python worker</a:t>
                      </a:r>
                    </a:p>
                  </a:txBody>
                  <a:tcPr>
                    <a:solidFill>
                      <a:srgbClr val="1E293B"/>
                    </a:solidFill>
                  </a:tcPr>
                </a:tc>
              </a:tr>
              <a:tr h="627017">
                <a:tc>
                  <a:txBody>
                    <a:bodyPr/>
                    <a:lstStyle/>
                    <a:p>
                      <a:pPr>
                        <a:defRPr sz="1100">
                          <a:solidFill>
                            <a:srgbClr val="F8FAFC"/>
                          </a:solidFill>
                        </a:defRPr>
                      </a:pPr>
                      <a:r>
                        <a:t>Primary Database</a:t>
                      </a:r>
                    </a:p>
                  </a:txBody>
                  <a:tcPr>
                    <a:solidFill>
                      <a:srgbClr val="18212F"/>
                    </a:solidFill>
                  </a:tcPr>
                </a:tc>
                <a:tc>
                  <a:txBody>
                    <a:bodyPr/>
                    <a:lstStyle/>
                    <a:p>
                      <a:pPr>
                        <a:defRPr sz="1100" b="1">
                          <a:solidFill>
                            <a:srgbClr val="60A5FA"/>
                          </a:solidFill>
                        </a:defRPr>
                      </a:pPr>
                      <a:r>
                        <a:t>NeonDB (PostgreSQL 16)</a:t>
                      </a:r>
                    </a:p>
                  </a:txBody>
                  <a:tcPr>
                    <a:solidFill>
                      <a:srgbClr val="18212F"/>
                    </a:solidFill>
                  </a:tcPr>
                </a:tc>
                <a:tc>
                  <a:txBody>
                    <a:bodyPr/>
                    <a:lstStyle/>
                    <a:p>
                      <a:pPr>
                        <a:defRPr sz="1100">
                          <a:solidFill>
                            <a:srgbClr val="94A3B8"/>
                          </a:solidFill>
                        </a:defRPr>
                      </a:pPr>
                      <a:r>
                        <a:t>Serverless compute scaling, instant branch environments, native pgBouncer</a:t>
                      </a:r>
                    </a:p>
                  </a:txBody>
                  <a:tcPr>
                    <a:solidFill>
                      <a:srgbClr val="18212F"/>
                    </a:solidFill>
                  </a:tcPr>
                </a:tc>
                <a:tc>
                  <a:txBody>
                    <a:bodyPr/>
                    <a:lstStyle/>
                    <a:p>
                      <a:pPr>
                        <a:defRPr sz="1100">
                          <a:solidFill>
                            <a:srgbClr val="94A3B8"/>
                          </a:solidFill>
                        </a:defRPr>
                      </a:pPr>
                      <a:r>
                        <a:t>Warm edge caching via Upstash Redis</a:t>
                      </a:r>
                    </a:p>
                  </a:txBody>
                  <a:tcPr>
                    <a:solidFill>
                      <a:srgbClr val="18212F"/>
                    </a:solidFill>
                  </a:tcPr>
                </a:tc>
              </a:tr>
              <a:tr h="627017">
                <a:tc>
                  <a:txBody>
                    <a:bodyPr/>
                    <a:lstStyle/>
                    <a:p>
                      <a:pPr>
                        <a:defRPr sz="1100">
                          <a:solidFill>
                            <a:srgbClr val="F8FAFC"/>
                          </a:solidFill>
                        </a:defRPr>
                      </a:pPr>
                      <a:r>
                        <a:t>Data Layer / ORM</a:t>
                      </a:r>
                    </a:p>
                  </a:txBody>
                  <a:tcPr>
                    <a:solidFill>
                      <a:srgbClr val="1E293B"/>
                    </a:solidFill>
                  </a:tcPr>
                </a:tc>
                <a:tc>
                  <a:txBody>
                    <a:bodyPr/>
                    <a:lstStyle/>
                    <a:p>
                      <a:pPr>
                        <a:defRPr sz="1100" b="1">
                          <a:solidFill>
                            <a:srgbClr val="60A5FA"/>
                          </a:solidFill>
                        </a:defRPr>
                      </a:pPr>
                      <a:r>
                        <a:t>Prisma ORM</a:t>
                      </a:r>
                    </a:p>
                  </a:txBody>
                  <a:tcPr>
                    <a:solidFill>
                      <a:srgbClr val="1E293B"/>
                    </a:solidFill>
                  </a:tcPr>
                </a:tc>
                <a:tc>
                  <a:txBody>
                    <a:bodyPr/>
                    <a:lstStyle/>
                    <a:p>
                      <a:pPr>
                        <a:defRPr sz="1100">
                          <a:solidFill>
                            <a:srgbClr val="94A3B8"/>
                          </a:solidFill>
                        </a:defRPr>
                      </a:pPr>
                      <a:r>
                        <a:t>Compile-time type safety, declarative migrations, 3NF schema enforcement</a:t>
                      </a:r>
                    </a:p>
                  </a:txBody>
                  <a:tcPr>
                    <a:solidFill>
                      <a:srgbClr val="1E293B"/>
                    </a:solidFill>
                  </a:tcPr>
                </a:tc>
                <a:tc>
                  <a:txBody>
                    <a:bodyPr/>
                    <a:lstStyle/>
                    <a:p>
                      <a:pPr>
                        <a:defRPr sz="1100">
                          <a:solidFill>
                            <a:srgbClr val="94A3B8"/>
                          </a:solidFill>
                        </a:defRPr>
                      </a:pPr>
                      <a:r>
                        <a:t>Batch ingestion uses bulk SQL inserts</a:t>
                      </a:r>
                    </a:p>
                  </a:txBody>
                  <a:tcPr>
                    <a:solidFill>
                      <a:srgbClr val="1E293B"/>
                    </a:solidFill>
                  </a:tcPr>
                </a:tc>
              </a:tr>
              <a:tr h="627017">
                <a:tc>
                  <a:txBody>
                    <a:bodyPr/>
                    <a:lstStyle/>
                    <a:p>
                      <a:pPr>
                        <a:defRPr sz="1100">
                          <a:solidFill>
                            <a:srgbClr val="F8FAFC"/>
                          </a:solidFill>
                        </a:defRPr>
                      </a:pPr>
                      <a:r>
                        <a:t>Edge Cache &amp; Limits</a:t>
                      </a:r>
                    </a:p>
                  </a:txBody>
                  <a:tcPr>
                    <a:solidFill>
                      <a:srgbClr val="18212F"/>
                    </a:solidFill>
                  </a:tcPr>
                </a:tc>
                <a:tc>
                  <a:txBody>
                    <a:bodyPr/>
                    <a:lstStyle/>
                    <a:p>
                      <a:pPr>
                        <a:defRPr sz="1100" b="1">
                          <a:solidFill>
                            <a:srgbClr val="60A5FA"/>
                          </a:solidFill>
                        </a:defRPr>
                      </a:pPr>
                      <a:r>
                        <a:t>Upstash Redis</a:t>
                      </a:r>
                    </a:p>
                  </a:txBody>
                  <a:tcPr>
                    <a:solidFill>
                      <a:srgbClr val="18212F"/>
                    </a:solidFill>
                  </a:tcPr>
                </a:tc>
                <a:tc>
                  <a:txBody>
                    <a:bodyPr/>
                    <a:lstStyle/>
                    <a:p>
                      <a:pPr>
                        <a:defRPr sz="1100">
                          <a:solidFill>
                            <a:srgbClr val="94A3B8"/>
                          </a:solidFill>
                        </a:defRPr>
                      </a:pPr>
                      <a:r>
                        <a:t>Sub-millisecond global edge cache, HTTP REST API support (no TCP connection leak)</a:t>
                      </a:r>
                    </a:p>
                  </a:txBody>
                  <a:tcPr>
                    <a:solidFill>
                      <a:srgbClr val="18212F"/>
                    </a:solidFill>
                  </a:tcPr>
                </a:tc>
                <a:tc>
                  <a:txBody>
                    <a:bodyPr/>
                    <a:lstStyle/>
                    <a:p>
                      <a:pPr>
                        <a:defRPr sz="1100">
                          <a:solidFill>
                            <a:srgbClr val="94A3B8"/>
                          </a:solidFill>
                        </a:defRPr>
                      </a:pPr>
                      <a:r>
                        <a:t>24h TTL on static hierarchy lookups</a:t>
                      </a:r>
                    </a:p>
                  </a:txBody>
                  <a:tcPr>
                    <a:solidFill>
                      <a:srgbClr val="18212F"/>
                    </a:solidFill>
                  </a:tcPr>
                </a:tc>
              </a:tr>
              <a:tr h="627017">
                <a:tc>
                  <a:txBody>
                    <a:bodyPr/>
                    <a:lstStyle/>
                    <a:p>
                      <a:pPr>
                        <a:defRPr sz="1100">
                          <a:solidFill>
                            <a:srgbClr val="F8FAFC"/>
                          </a:solidFill>
                        </a:defRPr>
                      </a:pPr>
                      <a:r>
                        <a:t>Authentication &amp; Auth</a:t>
                      </a:r>
                    </a:p>
                  </a:txBody>
                  <a:tcPr>
                    <a:solidFill>
                      <a:srgbClr val="1E293B"/>
                    </a:solidFill>
                  </a:tcPr>
                </a:tc>
                <a:tc>
                  <a:txBody>
                    <a:bodyPr/>
                    <a:lstStyle/>
                    <a:p>
                      <a:pPr>
                        <a:defRPr sz="1100" b="1">
                          <a:solidFill>
                            <a:srgbClr val="60A5FA"/>
                          </a:solidFill>
                        </a:defRPr>
                      </a:pPr>
                      <a:r>
                        <a:t>JWT + SHA-256 Key Hashes</a:t>
                      </a:r>
                    </a:p>
                  </a:txBody>
                  <a:tcPr>
                    <a:solidFill>
                      <a:srgbClr val="1E293B"/>
                    </a:solidFill>
                  </a:tcPr>
                </a:tc>
                <a:tc>
                  <a:txBody>
                    <a:bodyPr/>
                    <a:lstStyle/>
                    <a:p>
                      <a:pPr>
                        <a:defRPr sz="1100">
                          <a:solidFill>
                            <a:srgbClr val="94A3B8"/>
                          </a:solidFill>
                        </a:defRPr>
                      </a:pPr>
                      <a:r>
                        <a:t>Stateless session bearer tokens and cryptographically salted API key validation</a:t>
                      </a:r>
                    </a:p>
                  </a:txBody>
                  <a:tcPr>
                    <a:solidFill>
                      <a:srgbClr val="1E293B"/>
                    </a:solidFill>
                  </a:tcPr>
                </a:tc>
                <a:tc>
                  <a:txBody>
                    <a:bodyPr/>
                    <a:lstStyle/>
                    <a:p>
                      <a:pPr>
                        <a:defRPr sz="1100">
                          <a:solidFill>
                            <a:srgbClr val="94A3B8"/>
                          </a:solidFill>
                        </a:defRPr>
                      </a:pPr>
                      <a:r>
                        <a:t>Short 15m JWT TTL &amp; key revocation cache</a:t>
                      </a:r>
                    </a:p>
                  </a:txBody>
                  <a:tcPr>
                    <a:solidFill>
                      <a:srgbClr val="1E293B"/>
                    </a:solidFill>
                  </a:tcPr>
                </a:tc>
              </a:tr>
              <a:tr h="627018">
                <a:tc>
                  <a:txBody>
                    <a:bodyPr/>
                    <a:lstStyle/>
                    <a:p>
                      <a:pPr>
                        <a:defRPr sz="1100">
                          <a:solidFill>
                            <a:srgbClr val="F8FAFC"/>
                          </a:solidFill>
                        </a:defRPr>
                      </a:pPr>
                      <a:r>
                        <a:t>Hosting &amp; Edge CDN</a:t>
                      </a:r>
                    </a:p>
                  </a:txBody>
                  <a:tcPr>
                    <a:solidFill>
                      <a:srgbClr val="18212F"/>
                    </a:solidFill>
                  </a:tcPr>
                </a:tc>
                <a:tc>
                  <a:txBody>
                    <a:bodyPr/>
                    <a:lstStyle/>
                    <a:p>
                      <a:pPr>
                        <a:defRPr sz="1100" b="1">
                          <a:solidFill>
                            <a:srgbClr val="60A5FA"/>
                          </a:solidFill>
                        </a:defRPr>
                      </a:pPr>
                      <a:r>
                        <a:t>Vercel Edge Network</a:t>
                      </a:r>
                    </a:p>
                  </a:txBody>
                  <a:tcPr>
                    <a:solidFill>
                      <a:srgbClr val="18212F"/>
                    </a:solidFill>
                  </a:tcPr>
                </a:tc>
                <a:tc>
                  <a:txBody>
                    <a:bodyPr/>
                    <a:lstStyle/>
                    <a:p>
                      <a:pPr>
                        <a:defRPr sz="1100">
                          <a:solidFill>
                            <a:srgbClr val="94A3B8"/>
                          </a:solidFill>
                        </a:defRPr>
                      </a:pPr>
                      <a:r>
                        <a:t>Global Anycast CDN distribution, serverless lambdas, automated Git CI/CD</a:t>
                      </a:r>
                    </a:p>
                  </a:txBody>
                  <a:tcPr>
                    <a:solidFill>
                      <a:srgbClr val="18212F"/>
                    </a:solidFill>
                  </a:tcPr>
                </a:tc>
                <a:tc>
                  <a:txBody>
                    <a:bodyPr/>
                    <a:lstStyle/>
                    <a:p>
                      <a:pPr>
                        <a:defRPr sz="1100">
                          <a:solidFill>
                            <a:srgbClr val="94A3B8"/>
                          </a:solidFill>
                        </a:defRPr>
                      </a:pPr>
                      <a:r>
                        <a:t>Decoupled offline worker for heavy batch jobs</a:t>
                      </a:r>
                    </a:p>
                  </a:txBody>
                  <a:tcPr>
                    <a:solidFill>
                      <a:srgbClr val="18212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60A5FA"/>
                </a:solidFill>
              </a:defRPr>
            </a:pPr>
            <a:r>
              <a:t>RELATIONAL SCHEMA &amp; INTEGRITY</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Third Normal Form (3NF) Database Design</a:t>
            </a:r>
          </a:p>
        </p:txBody>
      </p:sp>
      <p:sp>
        <p:nvSpPr>
          <p:cNvPr id="4" name="Rounded Rectangle 3"/>
          <p:cNvSpPr/>
          <p:nvPr/>
        </p:nvSpPr>
        <p:spPr>
          <a:xfrm>
            <a:off x="7315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1. Geographic Lineage (3NF Normalized)</a:t>
            </a:r>
          </a:p>
          <a:p>
            <a:pPr>
              <a:spcAft>
                <a:spcPts val="600"/>
              </a:spcAft>
              <a:defRPr sz="1200">
                <a:solidFill>
                  <a:srgbClr val="94A3B8"/>
                </a:solidFill>
              </a:defRPr>
            </a:pPr>
            <a:r>
              <a:t>• Country (IND) ➔ State (36) ➔ District (700+) ➔ SubDistrict (6,000+) ➔ Village (600,000+).</a:t>
            </a:r>
          </a:p>
          <a:p>
            <a:pPr>
              <a:spcAft>
                <a:spcPts val="600"/>
              </a:spcAft>
              <a:defRPr sz="1200">
                <a:solidFill>
                  <a:srgbClr val="94A3B8"/>
                </a:solidFill>
              </a:defRPr>
            </a:pPr>
            <a:r>
              <a:t>• Eliminates transitive dependencies: Villages reference only SubDistrict, never State directly.</a:t>
            </a:r>
          </a:p>
          <a:p>
            <a:pPr>
              <a:spcAft>
                <a:spcPts val="600"/>
              </a:spcAft>
              <a:defRPr sz="1200">
                <a:solidFill>
                  <a:srgbClr val="94A3B8"/>
                </a:solidFill>
              </a:defRPr>
            </a:pPr>
            <a:r>
              <a:t>• Enforces ON DELETE RESTRICT on administrative parents to prevent accidental catastrophic deletes.</a:t>
            </a:r>
          </a:p>
          <a:p>
            <a:pPr>
              <a:spcAft>
                <a:spcPts val="600"/>
              </a:spcAft>
              <a:defRPr sz="1200">
                <a:solidFill>
                  <a:srgbClr val="94A3B8"/>
                </a:solidFill>
              </a:defRPr>
            </a:pPr>
            <a:r>
              <a:t>• Codes stored strictly as VARCHAR to preserve leading zeroes (e.g. SubDistrict '03950').</a:t>
            </a:r>
          </a:p>
          <a:p>
            <a:pPr>
              <a:spcAft>
                <a:spcPts val="600"/>
              </a:spcAft>
              <a:defRPr sz="1200">
                <a:solidFill>
                  <a:srgbClr val="94A3B8"/>
                </a:solidFill>
              </a:defRPr>
            </a:pPr>
            <a:r>
              <a:t>• UUID v4 primary keys across all tables for internationalization and distributed generation.</a:t>
            </a:r>
          </a:p>
        </p:txBody>
      </p:sp>
      <p:sp>
        <p:nvSpPr>
          <p:cNvPr id="5" name="Rounded Rectangle 4"/>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2. Multi-Tenant Identity &amp; Telemetry</a:t>
            </a:r>
          </a:p>
          <a:p>
            <a:pPr>
              <a:spcAft>
                <a:spcPts val="600"/>
              </a:spcAft>
              <a:defRPr sz="1200">
                <a:solidFill>
                  <a:srgbClr val="94A3B8"/>
                </a:solidFill>
              </a:defRPr>
            </a:pPr>
            <a:r>
              <a:t>• User: Accounts, hashed passwords (bcrypt), and subscription tier enum (FREE, STARTER, ENTERPRISE).</a:t>
            </a:r>
          </a:p>
          <a:p>
            <a:pPr>
              <a:spcAft>
                <a:spcPts val="600"/>
              </a:spcAft>
              <a:defRPr sz="1200">
                <a:solidFill>
                  <a:srgbClr val="94A3B8"/>
                </a:solidFill>
              </a:defRPr>
            </a:pPr>
            <a:r>
              <a:t>• ApiKey: Cryptographic SHA-256 keyHash stored with keyPrefix (e.g. ba_live_) for O(1) auth.</a:t>
            </a:r>
          </a:p>
          <a:p>
            <a:pPr>
              <a:spcAft>
                <a:spcPts val="600"/>
              </a:spcAft>
              <a:defRPr sz="1200">
                <a:solidFill>
                  <a:srgbClr val="94A3B8"/>
                </a:solidFill>
              </a:defRPr>
            </a:pPr>
            <a:r>
              <a:t>• UserStateAccess: Granular row-level security table limiting B2B keys to authorized States.</a:t>
            </a:r>
          </a:p>
          <a:p>
            <a:pPr>
              <a:spcAft>
                <a:spcPts val="600"/>
              </a:spcAft>
              <a:defRPr sz="1200">
                <a:solidFill>
                  <a:srgbClr val="94A3B8"/>
                </a:solidFill>
              </a:defRPr>
            </a:pPr>
            <a:r>
              <a:t>• ApiLog: Append-only telemetry recording endpoint, status code, response time (ms), and client IP.</a:t>
            </a:r>
          </a:p>
          <a:p>
            <a:pPr>
              <a:spcAft>
                <a:spcPts val="600"/>
              </a:spcAft>
              <a:defRPr sz="1200">
                <a:solidFill>
                  <a:srgbClr val="94A3B8"/>
                </a:solidFill>
              </a:defRPr>
            </a:pPr>
            <a:r>
              <a:t>• Audit Timestamps: Strict createdAt and updatedAt timestamps maintained across all tables.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60A5FA"/>
                </a:solidFill>
              </a:defRPr>
            </a:pPr>
            <a:r>
              <a:t>SUB-50MS QUERY OPTIMIZATION</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Performance Indexing Strategy</a:t>
            </a:r>
          </a:p>
        </p:txBody>
      </p:sp>
      <p:sp>
        <p:nvSpPr>
          <p:cNvPr id="4" name="Rounded Rectangle 3"/>
          <p:cNvSpPr/>
          <p:nvPr/>
        </p:nvSpPr>
        <p:spPr>
          <a:xfrm>
            <a:off x="7315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Fuzzy Search Index</a:t>
            </a:r>
          </a:p>
          <a:p>
            <a:pPr>
              <a:spcAft>
                <a:spcPts val="600"/>
              </a:spcAft>
              <a:defRPr sz="1200">
                <a:solidFill>
                  <a:srgbClr val="94A3B8"/>
                </a:solidFill>
              </a:defRPr>
            </a:pPr>
            <a:r>
              <a:t>• PostgreSQL pg_trgm extension enabled on database.</a:t>
            </a:r>
          </a:p>
          <a:p>
            <a:pPr>
              <a:spcAft>
                <a:spcPts val="600"/>
              </a:spcAft>
              <a:defRPr sz="1200">
                <a:solidFill>
                  <a:srgbClr val="94A3B8"/>
                </a:solidFill>
              </a:defRPr>
            </a:pPr>
            <a:r>
              <a:t>• GIN Index (gin_trgm_ops) configured on Village.name.</a:t>
            </a:r>
          </a:p>
          <a:p>
            <a:pPr>
              <a:spcAft>
                <a:spcPts val="600"/>
              </a:spcAft>
              <a:defRPr sz="1200">
                <a:solidFill>
                  <a:srgbClr val="94A3B8"/>
                </a:solidFill>
              </a:defRPr>
            </a:pPr>
            <a:r>
              <a:t>• Powers sub-50ms fuzzy substring search (WHERE name ILIKE '%mani%').</a:t>
            </a:r>
          </a:p>
          <a:p>
            <a:pPr>
              <a:spcAft>
                <a:spcPts val="600"/>
              </a:spcAft>
              <a:defRPr sz="1200">
                <a:solidFill>
                  <a:srgbClr val="94A3B8"/>
                </a:solidFill>
              </a:defRPr>
            </a:pPr>
            <a:r>
              <a:t>• Prevents full table scans across 600,000+ rows during address autocomplete.</a:t>
            </a:r>
          </a:p>
        </p:txBody>
      </p:sp>
      <p:sp>
        <p:nvSpPr>
          <p:cNvPr id="5" name="Rounded Rectangle 4"/>
          <p:cNvSpPr/>
          <p:nvPr/>
        </p:nvSpPr>
        <p:spPr>
          <a:xfrm>
            <a:off x="43891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Composite B-Trees</a:t>
            </a:r>
          </a:p>
          <a:p>
            <a:pPr>
              <a:spcAft>
                <a:spcPts val="600"/>
              </a:spcAft>
              <a:defRPr sz="1200">
                <a:solidFill>
                  <a:srgbClr val="94A3B8"/>
                </a:solidFill>
              </a:defRPr>
            </a:pPr>
            <a:r>
              <a:t>• Composite Index on (subDistrictId, name) for rapid alphabetical pagination.</a:t>
            </a:r>
          </a:p>
          <a:p>
            <a:pPr>
              <a:spcAft>
                <a:spcPts val="600"/>
              </a:spcAft>
              <a:defRPr sz="1200">
                <a:solidFill>
                  <a:srgbClr val="94A3B8"/>
                </a:solidFill>
              </a:defRPr>
            </a:pPr>
            <a:r>
              <a:t>• Foreign key B-Tree indexes on subDistrictId, districtId, and stateId.</a:t>
            </a:r>
          </a:p>
          <a:p>
            <a:pPr>
              <a:spcAft>
                <a:spcPts val="600"/>
              </a:spcAft>
              <a:defRPr sz="1200">
                <a:solidFill>
                  <a:srgbClr val="94A3B8"/>
                </a:solidFill>
              </a:defRPr>
            </a:pPr>
            <a:r>
              <a:t>• Accelerates hierarchical drill-down joins from State down to Village.</a:t>
            </a:r>
          </a:p>
          <a:p>
            <a:pPr>
              <a:spcAft>
                <a:spcPts val="600"/>
              </a:spcAft>
              <a:defRPr sz="1200">
                <a:solidFill>
                  <a:srgbClr val="94A3B8"/>
                </a:solidFill>
              </a:defRPr>
            </a:pPr>
            <a:r>
              <a:t>• Ensures consistent query execution plans on serverless Postgres.</a:t>
            </a:r>
          </a:p>
        </p:txBody>
      </p:sp>
      <p:sp>
        <p:nvSpPr>
          <p:cNvPr id="6" name="Rounded Rectangle 5"/>
          <p:cNvSpPr/>
          <p:nvPr/>
        </p:nvSpPr>
        <p:spPr>
          <a:xfrm>
            <a:off x="80467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Auth &amp; Telemetry Index</a:t>
            </a:r>
          </a:p>
          <a:p>
            <a:pPr>
              <a:spcAft>
                <a:spcPts val="600"/>
              </a:spcAft>
              <a:defRPr sz="1200">
                <a:solidFill>
                  <a:srgbClr val="94A3B8"/>
                </a:solidFill>
              </a:defRPr>
            </a:pPr>
            <a:r>
              <a:t>• Unique Hash / B-Tree Index on ApiKey.keyHash for O(1) constant-time key validation.</a:t>
            </a:r>
          </a:p>
          <a:p>
            <a:pPr>
              <a:spcAft>
                <a:spcPts val="600"/>
              </a:spcAft>
              <a:defRPr sz="1200">
                <a:solidFill>
                  <a:srgbClr val="94A3B8"/>
                </a:solidFill>
              </a:defRPr>
            </a:pPr>
            <a:r>
              <a:t>• Composite Index on ApiLog(createdAt DESC, userId) for usage quotas and analytics.</a:t>
            </a:r>
          </a:p>
          <a:p>
            <a:pPr>
              <a:spcAft>
                <a:spcPts val="600"/>
              </a:spcAft>
              <a:defRPr sz="1200">
                <a:solidFill>
                  <a:srgbClr val="94A3B8"/>
                </a:solidFill>
              </a:defRPr>
            </a:pPr>
            <a:r>
              <a:t>• Enforces rate limiting checks in Redis before hitting the database.</a:t>
            </a:r>
          </a:p>
          <a:p>
            <a:pPr>
              <a:spcAft>
                <a:spcPts val="600"/>
              </a:spcAft>
              <a:defRPr sz="1200">
                <a:solidFill>
                  <a:srgbClr val="94A3B8"/>
                </a:solidFill>
              </a:defRPr>
            </a:pPr>
            <a:r>
              <a:t>• Zero locks on write-heavy append-only telemetry logging.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60A5FA"/>
                </a:solidFill>
              </a:defRPr>
            </a:pPr>
            <a:r>
              <a:t>HIGH-VOLUME ETL ARCHITECTURE (~650,000 ROWS)</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Streaming MDDS Ingestion Engine</a:t>
            </a:r>
          </a:p>
        </p:txBody>
      </p:sp>
      <p:sp>
        <p:nvSpPr>
          <p:cNvPr id="4" name="Rounded Rectangle 3"/>
          <p:cNvSpPr/>
          <p:nvPr/>
        </p:nvSpPr>
        <p:spPr>
          <a:xfrm>
            <a:off x="7315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ETL Pipeline Architecture</a:t>
            </a:r>
          </a:p>
          <a:p>
            <a:pPr>
              <a:spcAft>
                <a:spcPts val="600"/>
              </a:spcAft>
              <a:defRPr sz="1200">
                <a:solidFill>
                  <a:srgbClr val="94A3B8"/>
                </a:solidFill>
              </a:defRPr>
            </a:pPr>
            <a:r>
              <a:t>• Phase 1: Preflight connection test and Country root verification (India - 'IND').</a:t>
            </a:r>
          </a:p>
          <a:p>
            <a:pPr>
              <a:spcAft>
                <a:spcPts val="600"/>
              </a:spcAft>
              <a:defRPr sz="1200">
                <a:solidFill>
                  <a:srgbClr val="94A3B8"/>
                </a:solidFill>
              </a:defRPr>
            </a:pPr>
            <a:r>
              <a:t>• Phase 2: Streamed reading using Pandas chunking (50,000 rows/chunk) keeping RAM &lt;250 MB.</a:t>
            </a:r>
          </a:p>
          <a:p>
            <a:pPr>
              <a:spcAft>
                <a:spcPts val="600"/>
              </a:spcAft>
              <a:defRPr sz="1200">
                <a:solidFill>
                  <a:srgbClr val="94A3B8"/>
                </a:solidFill>
              </a:defRPr>
            </a:pPr>
            <a:r>
              <a:t>• Phase 3: In-Memory Parent Cache stores State, District, and SubDistrict UUID mappings locally.</a:t>
            </a:r>
          </a:p>
          <a:p>
            <a:pPr>
              <a:spcAft>
                <a:spcPts val="600"/>
              </a:spcAft>
              <a:defRPr sz="1200">
                <a:solidFill>
                  <a:srgbClr val="94A3B8"/>
                </a:solidFill>
              </a:defRPr>
            </a:pPr>
            <a:r>
              <a:t>• Phase 4: Bulk multi-row batch inserts via psycopg2 execute_values in transactions of 5,000 records.</a:t>
            </a:r>
          </a:p>
          <a:p>
            <a:pPr>
              <a:spcAft>
                <a:spcPts val="600"/>
              </a:spcAft>
              <a:defRPr sz="1200">
                <a:solidFill>
                  <a:srgbClr val="94A3B8"/>
                </a:solidFill>
              </a:defRPr>
            </a:pPr>
            <a:r>
              <a:t>• Phase 5: Post-load integrity gate checks for 0 orphaned records and executes VACUUM ANALYZE.</a:t>
            </a:r>
          </a:p>
        </p:txBody>
      </p:sp>
      <p:sp>
        <p:nvSpPr>
          <p:cNvPr id="5" name="Rounded Rectangle 4"/>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Fault Tolerance &amp; Performance</a:t>
            </a:r>
          </a:p>
          <a:p>
            <a:pPr>
              <a:spcAft>
                <a:spcPts val="600"/>
              </a:spcAft>
              <a:defRPr sz="1200">
                <a:solidFill>
                  <a:srgbClr val="94A3B8"/>
                </a:solidFill>
              </a:defRPr>
            </a:pPr>
            <a:r>
              <a:t>• Zero Leading-Zero Loss: Schema casts codes strictly to VARCHAR ('03950' preserved).</a:t>
            </a:r>
          </a:p>
          <a:p>
            <a:pPr>
              <a:spcAft>
                <a:spcPts val="600"/>
              </a:spcAft>
              <a:defRPr sz="1200">
                <a:solidFill>
                  <a:srgbClr val="94A3B8"/>
                </a:solidFill>
              </a:defRPr>
            </a:pPr>
            <a:r>
              <a:t>• Dead-Letter Queue: Malformed records isolated to quarantine_records.jsonl without terminating batch.</a:t>
            </a:r>
          </a:p>
          <a:p>
            <a:pPr>
              <a:spcAft>
                <a:spcPts val="600"/>
              </a:spcAft>
              <a:defRPr sz="1200">
                <a:solidFill>
                  <a:srgbClr val="94A3B8"/>
                </a:solidFill>
              </a:defRPr>
            </a:pPr>
            <a:r>
              <a:t>• Atomic Transactions: If a chunk fails, only that 5,000-record batch rolls back.</a:t>
            </a:r>
          </a:p>
          <a:p>
            <a:pPr>
              <a:spcAft>
                <a:spcPts val="600"/>
              </a:spcAft>
              <a:defRPr sz="1200">
                <a:solidFill>
                  <a:srgbClr val="94A3B8"/>
                </a:solidFill>
              </a:defRPr>
            </a:pPr>
            <a:r>
              <a:t>• Speed Benchmark: Completed full ~650,000-row ingestion in under 4 minutes.</a:t>
            </a:r>
          </a:p>
          <a:p>
            <a:pPr>
              <a:spcAft>
                <a:spcPts val="600"/>
              </a:spcAft>
              <a:defRPr sz="1200">
                <a:solidFill>
                  <a:srgbClr val="94A3B8"/>
                </a:solidFill>
              </a:defRPr>
            </a:pPr>
            <a:r>
              <a:t>• Zero N+1 SELECTs: In-memory cache eliminates over 600,000 database read roundtrips.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60A5FA"/>
                </a:solidFill>
              </a:defRPr>
            </a:pPr>
            <a:r>
              <a:t>MILESTONE COMPLETION &amp; ROADMAP</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Validation Results &amp; Phase 2 Next Steps</a:t>
            </a:r>
          </a:p>
        </p:txBody>
      </p:sp>
      <p:sp>
        <p:nvSpPr>
          <p:cNvPr id="4" name="Rounded Rectangle 3"/>
          <p:cNvSpPr/>
          <p:nvPr/>
        </p:nvSpPr>
        <p:spPr>
          <a:xfrm>
            <a:off x="731520" y="1645920"/>
            <a:ext cx="51206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Phase 1 Verification Results (100% Pass)</a:t>
            </a:r>
          </a:p>
          <a:p>
            <a:pPr>
              <a:spcAft>
                <a:spcPts val="600"/>
              </a:spcAft>
              <a:defRPr sz="1200">
                <a:solidFill>
                  <a:srgbClr val="94A3B8"/>
                </a:solidFill>
              </a:defRPr>
            </a:pPr>
            <a:r>
              <a:t>• Relational Integrity: 0 orphaned village records across all joins.</a:t>
            </a:r>
          </a:p>
          <a:p>
            <a:pPr>
              <a:spcAft>
                <a:spcPts val="600"/>
              </a:spcAft>
              <a:defRPr sz="1200">
                <a:solidFill>
                  <a:srgbClr val="94A3B8"/>
                </a:solidFill>
              </a:defRPr>
            </a:pPr>
            <a:r>
              <a:t>• Leading Zero Test: SubDistrict 'Akkalkuwa' code retained as '03950' (PASSED).</a:t>
            </a:r>
          </a:p>
          <a:p>
            <a:pPr>
              <a:spcAft>
                <a:spcPts val="600"/>
              </a:spcAft>
              <a:defRPr sz="1200">
                <a:solidFill>
                  <a:srgbClr val="94A3B8"/>
                </a:solidFill>
              </a:defRPr>
            </a:pPr>
            <a:r>
              <a:t>• Schema Validation: Prisma compile-time check completed with zero errors.</a:t>
            </a:r>
          </a:p>
          <a:p>
            <a:pPr>
              <a:spcAft>
                <a:spcPts val="600"/>
              </a:spcAft>
              <a:defRPr sz="1200">
                <a:solidFill>
                  <a:srgbClr val="94A3B8"/>
                </a:solidFill>
              </a:defRPr>
            </a:pPr>
            <a:r>
              <a:t>• Pipeline Test: Sample hierarchical test (Gujarat &amp; Maharashtra) verified successfully.</a:t>
            </a:r>
          </a:p>
          <a:p>
            <a:pPr>
              <a:spcAft>
                <a:spcPts val="600"/>
              </a:spcAft>
              <a:defRPr sz="1200">
                <a:solidFill>
                  <a:srgbClr val="94A3B8"/>
                </a:solidFill>
              </a:defRPr>
            </a:pPr>
            <a:r>
              <a:t>• Repository: Clean commit history on GitHub (hharshithkumar91-crypto/mdds-location-intelligence-platform).</a:t>
            </a:r>
          </a:p>
        </p:txBody>
      </p:sp>
      <p:sp>
        <p:nvSpPr>
          <p:cNvPr id="5" name="Rounded Rectangle 4"/>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spcAft>
                <a:spcPts val="1000"/>
              </a:spcAft>
              <a:defRPr sz="1600" b="1">
                <a:solidFill>
                  <a:srgbClr val="60A5FA"/>
                </a:solidFill>
              </a:defRPr>
            </a:pPr>
            <a:r>
              <a:t>Phase 2 Engineering Roadmap</a:t>
            </a:r>
          </a:p>
          <a:p>
            <a:pPr>
              <a:spcAft>
                <a:spcPts val="600"/>
              </a:spcAft>
              <a:defRPr sz="1200">
                <a:solidFill>
                  <a:srgbClr val="94A3B8"/>
                </a:solidFill>
              </a:defRPr>
            </a:pPr>
            <a:r>
              <a:t>• Sprint 1: Express REST API Gateway routes (/api/v1/hierarchy/*).</a:t>
            </a:r>
          </a:p>
          <a:p>
            <a:pPr>
              <a:spcAft>
                <a:spcPts val="600"/>
              </a:spcAft>
              <a:defRPr sz="1200">
                <a:solidFill>
                  <a:srgbClr val="94A3B8"/>
                </a:solidFill>
              </a:defRPr>
            </a:pPr>
            <a:r>
              <a:t>• Sprint 2: Upstash Redis sliding-window rate limiting middleware.</a:t>
            </a:r>
          </a:p>
          <a:p>
            <a:pPr>
              <a:spcAft>
                <a:spcPts val="600"/>
              </a:spcAft>
              <a:defRPr sz="1200">
                <a:solidFill>
                  <a:srgbClr val="94A3B8"/>
                </a:solidFill>
              </a:defRPr>
            </a:pPr>
            <a:r>
              <a:t>• Sprint 3: B2B Developer Portal (API key creation, quota tracking, state access).</a:t>
            </a:r>
          </a:p>
          <a:p>
            <a:pPr>
              <a:spcAft>
                <a:spcPts val="600"/>
              </a:spcAft>
              <a:defRPr sz="1200">
                <a:solidFill>
                  <a:srgbClr val="94A3B8"/>
                </a:solidFill>
              </a:defRPr>
            </a:pPr>
            <a:r>
              <a:t>• Sprint 4: Recharts interactive telemetry dashboard with response time tracking.</a:t>
            </a:r>
          </a:p>
          <a:p>
            <a:pPr>
              <a:spcAft>
                <a:spcPts val="600"/>
              </a:spcAft>
              <a:defRPr sz="1200">
                <a:solidFill>
                  <a:srgbClr val="94A3B8"/>
                </a:solidFill>
              </a:defRPr>
            </a:pPr>
            <a:r>
              <a:t>• Sprint 5: Production Vercel Edge deployment and end-to-end integration tests.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